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9CA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36576"/>
          </a:xfrm>
          <a:prstGeom prst="rect">
            <a:avLst/>
          </a:prstGeom>
          <a:solidFill>
            <a:srgbClr val="137A8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EIA Energy Research Assistant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8046720" cy="502920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76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Capstone Project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Systems — Week 5 Capstone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Srikaran Anand</a:t>
            </a:r>
            <a:pPr algn="l" indent="0" marL="0">
              <a:buNone/>
            </a:pPr>
            <a:r>
              <a:rPr lang="en-US" sz="1600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</a:t>
            </a:r>
            <a:pPr algn="l" indent="0" marL="0">
              <a:buNone/>
            </a:pPr>
            <a:r>
              <a:rPr lang="en-US" sz="16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Oklahoma State University</a:t>
            </a:r>
            <a:pPr algn="l" indent="0" marL="0">
              <a:buNone/>
            </a:pPr>
            <a:r>
              <a:rPr lang="en-US" sz="1600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</a:t>
            </a:r>
            <a:pPr algn="l" indent="0" marL="0">
              <a:buNone/>
            </a:pPr>
            <a:r>
              <a:rPr lang="en-US" sz="16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2743200" cy="36576"/>
          </a:xfrm>
          <a:prstGeom prst="rect">
            <a:avLst/>
          </a:prstGeom>
          <a:solidFill>
            <a:srgbClr val="1B9CA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Use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4069080" cy="384048"/>
          </a:xfrm>
          <a:prstGeom prst="rect">
            <a:avLst/>
          </a:prstGeom>
          <a:solidFill>
            <a:srgbClr val="A12C2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researchers need quick, verified access to complex EIA datasets spanning electricity, natural gas, petroleum, renewables, and emissions — but navigating the API is time-consuming and error-prone.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04672"/>
            <a:ext cx="4069080" cy="38404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794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research assistant that queries EIA API v2, reasons with RAG, and produces verified data analyses with auto-generated charts — reducing research time from hours to seconds.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92040" y="3566160"/>
            <a:ext cx="3566160" cy="822960"/>
          </a:xfrm>
          <a:prstGeom prst="rect">
            <a:avLst/>
          </a:prstGeom>
          <a:solidFill>
            <a:srgbClr val="EAF0F0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Category: </a:t>
            </a:r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(Option 4)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1627632" cy="1965960"/>
          </a:xfrm>
          <a:prstGeom prst="rect">
            <a:avLst/>
          </a:prstGeom>
          <a:solidFill>
            <a:srgbClr val="0D5E63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822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" y="11612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01368" y="1732788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92808" y="749808"/>
            <a:ext cx="1627632" cy="1965960"/>
          </a:xfrm>
          <a:prstGeom prst="rect">
            <a:avLst/>
          </a:prstGeom>
          <a:solidFill>
            <a:srgbClr val="F0F8F9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822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1612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709928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9584" y="1732788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21024" y="749808"/>
            <a:ext cx="1627632" cy="1965960"/>
          </a:xfrm>
          <a:prstGeom prst="rect">
            <a:avLst/>
          </a:prstGeom>
          <a:solidFill>
            <a:srgbClr val="F0F8F9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822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94176" y="11612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94176" y="1709928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1732788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49240" y="749808"/>
            <a:ext cx="1627632" cy="1965960"/>
          </a:xfrm>
          <a:prstGeom prst="rect">
            <a:avLst/>
          </a:prstGeom>
          <a:solidFill>
            <a:srgbClr val="F0F8F9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822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22392" y="11612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1709928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knowledge 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86016" y="1732788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77456" y="749808"/>
            <a:ext cx="1627632" cy="1965960"/>
          </a:xfrm>
          <a:prstGeom prst="rect">
            <a:avLst/>
          </a:prstGeom>
          <a:solidFill>
            <a:srgbClr val="0D5E63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822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50608" y="11612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Tool Selection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50608" y="1709928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query_eia_data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explore_datasets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get_preset_data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4592" y="2907792"/>
            <a:ext cx="1627632" cy="1965960"/>
          </a:xfrm>
          <a:prstGeom prst="rect">
            <a:avLst/>
          </a:prstGeom>
          <a:solidFill>
            <a:srgbClr val="F0F8F9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" y="2980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7744" y="331927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EIA API v2 Query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7744" y="3867912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+ retry logic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01368" y="3890772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892808" y="2907792"/>
            <a:ext cx="1627632" cy="1965960"/>
          </a:xfrm>
          <a:prstGeom prst="rect">
            <a:avLst/>
          </a:prstGeom>
          <a:solidFill>
            <a:srgbClr val="F0F8F9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5960" y="2980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965960" y="331927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Synthesis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65960" y="3867912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charts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29584" y="3890772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621024" y="2907792"/>
            <a:ext cx="1627632" cy="1965960"/>
          </a:xfrm>
          <a:prstGeom prst="rect">
            <a:avLst/>
          </a:prstGeom>
          <a:solidFill>
            <a:srgbClr val="F0F8F9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4176" y="2980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94176" y="331927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 Eval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94176" y="3867912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relevance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(1-5)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57800" y="3890772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349240" y="2907792"/>
            <a:ext cx="1627632" cy="1965960"/>
          </a:xfrm>
          <a:prstGeom prst="rect">
            <a:avLst/>
          </a:prstGeom>
          <a:solidFill>
            <a:srgbClr val="F0F8F9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22392" y="2980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22392" y="331927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Log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22392" y="3867912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86016" y="3890772"/>
            <a:ext cx="9144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077456" y="2907792"/>
            <a:ext cx="1627632" cy="1965960"/>
          </a:xfrm>
          <a:prstGeom prst="rect">
            <a:avLst/>
          </a:prstGeom>
          <a:solidFill>
            <a:srgbClr val="0D5E63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2980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50608" y="331927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to User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891272" y="2715768"/>
            <a:ext cx="0" cy="192024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4592" y="2906878"/>
            <a:ext cx="7726680" cy="0"/>
          </a:xfrm>
          <a:prstGeom prst="line">
            <a:avLst/>
          </a:prstGeom>
          <a:noFill/>
          <a:ln w="12700">
            <a:solidFill>
              <a:srgbClr val="137A8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6974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77240"/>
            <a:ext cx="2697480" cy="47548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2478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08176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32588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definition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075688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993392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agentic pattern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743200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660904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API v2 integration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18104" y="777240"/>
            <a:ext cx="26974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18104" y="777240"/>
            <a:ext cx="2697480" cy="47548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5" name="Text 13"/>
          <p:cNvSpPr/>
          <p:nvPr/>
        </p:nvSpPr>
        <p:spPr>
          <a:xfrm>
            <a:off x="3227832" y="777240"/>
            <a:ext cx="2478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Development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408176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17" name="Text 15"/>
          <p:cNvSpPr/>
          <p:nvPr/>
        </p:nvSpPr>
        <p:spPr>
          <a:xfrm>
            <a:off x="3438144" y="132588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8 energy knowledge chunks, keyword retrieval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075688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19" name="Text 17"/>
          <p:cNvSpPr/>
          <p:nvPr/>
        </p:nvSpPr>
        <p:spPr>
          <a:xfrm>
            <a:off x="3438144" y="1993392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— 3 standardized tools with JSON Schema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21" name="Text 19"/>
          <p:cNvSpPr/>
          <p:nvPr/>
        </p:nvSpPr>
        <p:spPr>
          <a:xfrm>
            <a:off x="3438144" y="2660904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Engineering — thought → action → observation loops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0176" y="777240"/>
            <a:ext cx="26974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777240"/>
            <a:ext cx="2697480" cy="47548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24" name="Text 22"/>
          <p:cNvSpPr/>
          <p:nvPr/>
        </p:nvSpPr>
        <p:spPr>
          <a:xfrm>
            <a:off x="6089904" y="777240"/>
            <a:ext cx="2478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Reliability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8192" y="1408176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132588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Topic validation, injection detection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08192" y="2075688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1993392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— 3-dimension scoring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08192" y="2743200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30" name="Text 28"/>
          <p:cNvSpPr/>
          <p:nvPr/>
        </p:nvSpPr>
        <p:spPr>
          <a:xfrm>
            <a:off x="6300216" y="2660904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— 1hr TTL SQLite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08192" y="3410712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3328416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— 3 attempts, exponential backoff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08192" y="4078224"/>
            <a:ext cx="109728" cy="109728"/>
          </a:xfrm>
          <a:prstGeom prst="ellipse">
            <a:avLst/>
          </a:prstGeom>
          <a:solidFill>
            <a:srgbClr val="1B9CA3"/>
          </a:solidFill>
          <a:ln/>
        </p:spPr>
      </p:sp>
      <p:sp>
        <p:nvSpPr>
          <p:cNvPr id="34" name="Text 32"/>
          <p:cNvSpPr/>
          <p:nvPr/>
        </p:nvSpPr>
        <p:spPr>
          <a:xfrm>
            <a:off x="6300216" y="3995928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200ms throttle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1371600" cy="8046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89611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Plotly, Pandas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19072"/>
            <a:ext cx="1371600" cy="80467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719072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74520" y="181051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Streamlit, SQLite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33472"/>
            <a:ext cx="1371600" cy="804672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633472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272491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Pattern, RAG Pipeline, MCP Protocol, LLM-as-Judge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47872"/>
            <a:ext cx="1371600" cy="804672"/>
          </a:xfrm>
          <a:prstGeom prst="rect">
            <a:avLst/>
          </a:prstGeom>
          <a:solidFill>
            <a:srgbClr val="0A3D4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547872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363931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API v2 — electricity, natural gas, petroleum, renewables, emissions, STEO forecasts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with agentic AI capabilities — runs on Google Colab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77240"/>
            <a:ext cx="2697480" cy="73152"/>
          </a:xfrm>
          <a:prstGeom prst="rect">
            <a:avLst/>
          </a:prstGeom>
          <a:solidFill>
            <a:srgbClr val="1B9CA3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14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" y="12527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6916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electricity and gas prices by state, sector, and period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77724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777240"/>
            <a:ext cx="2697480" cy="73152"/>
          </a:xfrm>
          <a:prstGeom prst="rect">
            <a:avLst/>
          </a:prstGeom>
          <a:solidFill>
            <a:srgbClr val="1B9CA3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914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55848" y="12527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Exploration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916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historical energy trends with auto-generated charts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77724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777240"/>
            <a:ext cx="2697480" cy="73152"/>
          </a:xfrm>
          <a:prstGeom prst="rect">
            <a:avLst/>
          </a:prstGeom>
          <a:solidFill>
            <a:srgbClr val="1B9CA3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914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18504" y="12527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 Monitoring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18504" y="16916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solar, wind, and hydro generation growth over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2807208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807208"/>
            <a:ext cx="2697480" cy="73152"/>
          </a:xfrm>
          <a:prstGeom prst="rect">
            <a:avLst/>
          </a:prstGeom>
          <a:solidFill>
            <a:srgbClr val="1B9CA3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2944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" y="32826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Emissions Tracking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37216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CO₂ trends by sector and fuel type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18688" y="2807208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2807208"/>
            <a:ext cx="2697480" cy="73152"/>
          </a:xfrm>
          <a:prstGeom prst="rect">
            <a:avLst/>
          </a:prstGeom>
          <a:solidFill>
            <a:srgbClr val="1B9CA3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944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55848" y="32826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Discovery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7216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available EIA datasets and their 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1344" y="2807208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1344" y="2807208"/>
            <a:ext cx="2697480" cy="73152"/>
          </a:xfrm>
          <a:prstGeom prst="rect">
            <a:avLst/>
          </a:prstGeom>
          <a:solidFill>
            <a:srgbClr val="1B9CA3"/>
          </a:solidFill>
          <a:ln/>
        </p:spPr>
      </p:sp>
      <p:sp>
        <p:nvSpPr>
          <p:cNvPr id="31" name="Text 29"/>
          <p:cNvSpPr/>
          <p:nvPr/>
        </p:nvSpPr>
        <p:spPr>
          <a:xfrm>
            <a:off x="6318504" y="2944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18504" y="32826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Forecasting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18504" y="37216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STEO short-term energy outlook projections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118872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680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08760" y="768096"/>
            <a:ext cx="118872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7680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---ms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61488" y="768096"/>
            <a:ext cx="118872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7680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---%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14216" y="768096"/>
            <a:ext cx="1188720" cy="658368"/>
          </a:xfrm>
          <a:prstGeom prst="rect">
            <a:avLst/>
          </a:prstGeom>
          <a:solidFill>
            <a:srgbClr val="0A1F22"/>
          </a:solidFill>
          <a:ln/>
        </p:spPr>
      </p:sp>
      <p:sp>
        <p:nvSpPr>
          <p:cNvPr id="11" name="Text 9"/>
          <p:cNvSpPr/>
          <p:nvPr/>
        </p:nvSpPr>
        <p:spPr>
          <a:xfrm>
            <a:off x="4014216" y="7680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/ --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Retries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6032" y="1517904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517904"/>
            <a:ext cx="5029200" cy="347472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517904"/>
            <a:ext cx="4809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Agent Trace Stream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1965960"/>
            <a:ext cx="791870" cy="292608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1965960"/>
            <a:ext cx="7918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67358" y="1965960"/>
            <a:ext cx="952805" cy="29260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8" name="Text 16"/>
          <p:cNvSpPr/>
          <p:nvPr/>
        </p:nvSpPr>
        <p:spPr>
          <a:xfrm>
            <a:off x="1267358" y="1965960"/>
            <a:ext cx="9528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11603" y="1965960"/>
            <a:ext cx="1113739" cy="292608"/>
          </a:xfrm>
          <a:prstGeom prst="rect">
            <a:avLst/>
          </a:prstGeom>
          <a:solidFill>
            <a:srgbClr val="237A47"/>
          </a:solidFill>
          <a:ln/>
        </p:spPr>
      </p:sp>
      <p:sp>
        <p:nvSpPr>
          <p:cNvPr id="20" name="Text 18"/>
          <p:cNvSpPr/>
          <p:nvPr/>
        </p:nvSpPr>
        <p:spPr>
          <a:xfrm>
            <a:off x="2311603" y="1965960"/>
            <a:ext cx="11137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16782" y="1965960"/>
            <a:ext cx="550469" cy="2926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2" name="Text 20"/>
          <p:cNvSpPr/>
          <p:nvPr/>
        </p:nvSpPr>
        <p:spPr>
          <a:xfrm>
            <a:off x="3516782" y="1965960"/>
            <a:ext cx="55046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58691" y="1965960"/>
            <a:ext cx="630936" cy="292608"/>
          </a:xfrm>
          <a:prstGeom prst="rect">
            <a:avLst/>
          </a:prstGeom>
          <a:solidFill>
            <a:srgbClr val="A12C2C"/>
          </a:solidFill>
          <a:ln/>
        </p:spPr>
      </p:sp>
      <p:sp>
        <p:nvSpPr>
          <p:cNvPr id="24" name="Text 22"/>
          <p:cNvSpPr/>
          <p:nvPr/>
        </p:nvSpPr>
        <p:spPr>
          <a:xfrm>
            <a:off x="4158691" y="1965960"/>
            <a:ext cx="630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81067" y="1965960"/>
            <a:ext cx="952805" cy="292608"/>
          </a:xfrm>
          <a:prstGeom prst="rect">
            <a:avLst/>
          </a:prstGeom>
          <a:solidFill>
            <a:srgbClr val="6A0D91"/>
          </a:solidFill>
          <a:ln/>
        </p:spPr>
      </p:sp>
      <p:sp>
        <p:nvSpPr>
          <p:cNvPr id="26" name="Text 24"/>
          <p:cNvSpPr/>
          <p:nvPr/>
        </p:nvSpPr>
        <p:spPr>
          <a:xfrm>
            <a:off x="4881067" y="1965960"/>
            <a:ext cx="9528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2359152"/>
            <a:ext cx="47548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event is logged with timestamp, latency, inputs/outputs, and full context for debugging and monitoring.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768096"/>
            <a:ext cx="3401568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768096"/>
            <a:ext cx="3401568" cy="38404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30" name="Text 28"/>
          <p:cNvSpPr/>
          <p:nvPr/>
        </p:nvSpPr>
        <p:spPr>
          <a:xfrm>
            <a:off x="5596128" y="768096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 Evaluation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96128" y="1225296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3-Dimension Scoring  |  Scale: 1 –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96128" y="1591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1591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5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96128" y="1901952"/>
            <a:ext cx="3108960" cy="201168"/>
          </a:xfrm>
          <a:prstGeom prst="rect">
            <a:avLst/>
          </a:prstGeom>
          <a:solidFill>
            <a:srgbClr val="D6E8E9"/>
          </a:solidFill>
          <a:ln/>
        </p:spPr>
      </p:sp>
      <p:sp>
        <p:nvSpPr>
          <p:cNvPr id="35" name="Shape 33"/>
          <p:cNvSpPr/>
          <p:nvPr/>
        </p:nvSpPr>
        <p:spPr>
          <a:xfrm>
            <a:off x="5596128" y="1901952"/>
            <a:ext cx="2798064" cy="20116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36" name="Text 34"/>
          <p:cNvSpPr/>
          <p:nvPr/>
        </p:nvSpPr>
        <p:spPr>
          <a:xfrm>
            <a:off x="5596128" y="2249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38160" y="22494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5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596128" y="2560320"/>
            <a:ext cx="3108960" cy="201168"/>
          </a:xfrm>
          <a:prstGeom prst="rect">
            <a:avLst/>
          </a:prstGeom>
          <a:solidFill>
            <a:srgbClr val="D6E8E9"/>
          </a:solidFill>
          <a:ln/>
        </p:spPr>
      </p:sp>
      <p:sp>
        <p:nvSpPr>
          <p:cNvPr id="39" name="Shape 37"/>
          <p:cNvSpPr/>
          <p:nvPr/>
        </p:nvSpPr>
        <p:spPr>
          <a:xfrm>
            <a:off x="5596128" y="2560320"/>
            <a:ext cx="2611526" cy="20116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40" name="Text 38"/>
          <p:cNvSpPr/>
          <p:nvPr/>
        </p:nvSpPr>
        <p:spPr>
          <a:xfrm>
            <a:off x="5596128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38160" y="29077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5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596128" y="3218688"/>
            <a:ext cx="3108960" cy="201168"/>
          </a:xfrm>
          <a:prstGeom prst="rect">
            <a:avLst/>
          </a:prstGeom>
          <a:solidFill>
            <a:srgbClr val="D6E8E9"/>
          </a:solidFill>
          <a:ln/>
        </p:spPr>
      </p:sp>
      <p:sp>
        <p:nvSpPr>
          <p:cNvPr id="43" name="Shape 41"/>
          <p:cNvSpPr/>
          <p:nvPr/>
        </p:nvSpPr>
        <p:spPr>
          <a:xfrm>
            <a:off x="5596128" y="3218688"/>
            <a:ext cx="2487168" cy="20116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44" y="4462272"/>
            <a:ext cx="1554480" cy="502920"/>
          </a:xfrm>
          <a:prstGeom prst="rect">
            <a:avLst/>
          </a:prstGeom>
          <a:solidFill>
            <a:srgbClr val="237A47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" y="44622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●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API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30552" y="4462272"/>
            <a:ext cx="1554480" cy="502920"/>
          </a:xfrm>
          <a:prstGeom prst="rect">
            <a:avLst/>
          </a:prstGeom>
          <a:solidFill>
            <a:srgbClr val="237A47"/>
          </a:solidFill>
          <a:ln/>
        </p:spPr>
      </p:sp>
      <p:sp>
        <p:nvSpPr>
          <p:cNvPr id="47" name="Text 45"/>
          <p:cNvSpPr/>
          <p:nvPr/>
        </p:nvSpPr>
        <p:spPr>
          <a:xfrm>
            <a:off x="2130552" y="44622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●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94760" y="4462272"/>
            <a:ext cx="1554480" cy="502920"/>
          </a:xfrm>
          <a:prstGeom prst="rect">
            <a:avLst/>
          </a:prstGeom>
          <a:solidFill>
            <a:srgbClr val="237A47"/>
          </a:solidFill>
          <a:ln/>
        </p:spPr>
      </p:sp>
      <p:sp>
        <p:nvSpPr>
          <p:cNvPr id="49" name="Text 47"/>
          <p:cNvSpPr/>
          <p:nvPr/>
        </p:nvSpPr>
        <p:spPr>
          <a:xfrm>
            <a:off x="3794760" y="44622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●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58968" y="4462272"/>
            <a:ext cx="1554480" cy="502920"/>
          </a:xfrm>
          <a:prstGeom prst="rect">
            <a:avLst/>
          </a:prstGeom>
          <a:solidFill>
            <a:srgbClr val="237A47"/>
          </a:solidFill>
          <a:ln/>
        </p:spPr>
      </p:sp>
      <p:sp>
        <p:nvSpPr>
          <p:cNvPr id="51" name="Text 49"/>
          <p:cNvSpPr/>
          <p:nvPr/>
        </p:nvSpPr>
        <p:spPr>
          <a:xfrm>
            <a:off x="5458968" y="44622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●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23176" y="4462272"/>
            <a:ext cx="1554480" cy="502920"/>
          </a:xfrm>
          <a:prstGeom prst="rect">
            <a:avLst/>
          </a:prstGeom>
          <a:solidFill>
            <a:srgbClr val="237A47"/>
          </a:solidFill>
          <a:ln/>
        </p:spPr>
      </p:sp>
      <p:sp>
        <p:nvSpPr>
          <p:cNvPr id="53" name="Text 51"/>
          <p:cNvSpPr/>
          <p:nvPr/>
        </p:nvSpPr>
        <p:spPr>
          <a:xfrm>
            <a:off x="7123176" y="44622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●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502920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Available at Deployed URL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93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9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292608" cy="29260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93392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dramatically improves response quality by grounding answers in domain knowledge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292608" cy="29260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essential — even simple pattern matching catches most prompt injections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292608" cy="29260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999232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evaluation enables automated quality monitoring without human 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solidFill>
            <a:srgbClr val="0D5E6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502152"/>
            <a:ext cx="7845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reduces API latency by 90%+ for repeated queries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3977640" cy="914400"/>
          </a:xfrm>
          <a:prstGeom prst="rect">
            <a:avLst/>
          </a:prstGeom>
          <a:solidFill>
            <a:srgbClr val="122427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59936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and documentation available in project repository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3950208"/>
            <a:ext cx="3977640" cy="914400"/>
          </a:xfrm>
          <a:prstGeom prst="rect">
            <a:avLst/>
          </a:prstGeom>
          <a:solidFill>
            <a:srgbClr val="122427"/>
          </a:solidFill>
          <a:ln w="12700">
            <a:solidFill>
              <a:srgbClr val="137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059936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D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reliable AI agents requires layered safety (guardrails + eval + observability), not just better prompts.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2026-04-14T17:42:23Z</dcterms:created>
  <dcterms:modified xsi:type="dcterms:W3CDTF">2026-04-14T17:42:23Z</dcterms:modified>
</cp:coreProperties>
</file>